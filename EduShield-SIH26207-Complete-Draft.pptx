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Sources: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UDISE+ 2024-25 dropout data: https://www.education.gov.in/sites/upload_files/mhrd/files/parliament_annexure_en/RSUQ_2133_en.pdf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UNICEF child migration research: https://www.unicef.org/india/reports/understanding-child-migration-india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Official references: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https://www.education.gov.in/sites/upload_files/mhrd/files/parliament_annexure_en/RSUQ_2133_en.pdf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https://www.unicef.org/india/reports/understanding-child-migration-india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https://apaar.education.gov.in/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https://scholarships.gov.in/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EDUSHIELD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Statement ID - SIH26207</a:t>
            </a:r>
          </a:p>
          <a:p>
            <a:r>
              <a:rPr lang="en-US" dirty="0"/>
              <a:t>Problem Statement Title - Student Innovation: Smart Education</a:t>
            </a:r>
          </a:p>
          <a:p>
            <a:r>
              <a:rPr lang="en-US" dirty="0"/>
              <a:t>Theme - Smart Education</a:t>
            </a:r>
          </a:p>
          <a:p>
            <a:r>
              <a:rPr lang="en-US" dirty="0"/>
              <a:t>PS Category - Software</a:t>
            </a:r>
          </a:p>
          <a:p>
            <a:r>
              <a:rPr lang="en-US" dirty="0"/>
              <a:t>Team ID - [TO ADD]</a:t>
            </a:r>
          </a:p>
          <a:p>
            <a:r>
              <a:rPr lang="en-US" dirty="0"/>
              <a:t>Team Name - Bravo 404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60E849-04A2-E469-9635-61C2179FF7F1}"/>
              </a:ext>
            </a:extLst>
          </p:cNvPr>
          <p:cNvSpPr txBox="1"/>
          <p:nvPr/>
        </p:nvSpPr>
        <p:spPr>
          <a:xfrm>
            <a:off x="3175000" y="5460999"/>
            <a:ext cx="5842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E1E1E"/>
                </a:solidFill>
                <a:latin typeface="Arial" panose="020B0604020202020204" pitchFamily="34" charset="0"/>
              </a:rPr>
              <a:t>Student Education Continuity and Support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EDUSHIELD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CBB48A-78CF-F310-7CD2-34245F6B2DEA}"/>
              </a:ext>
            </a:extLst>
          </p:cNvPr>
          <p:cNvSpPr txBox="1"/>
          <p:nvPr/>
        </p:nvSpPr>
        <p:spPr>
          <a:xfrm>
            <a:off x="571500" y="1295399"/>
            <a:ext cx="6350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555555"/>
                </a:solidFill>
                <a:latin typeface="Arial" panose="020B0604020202020204" pitchFamily="34" charset="0"/>
              </a:rPr>
              <a:t>PROPOSED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4FFBF7-DBEB-0527-D282-A28880F226B9}"/>
              </a:ext>
            </a:extLst>
          </p:cNvPr>
          <p:cNvSpPr txBox="1"/>
          <p:nvPr/>
        </p:nvSpPr>
        <p:spPr>
          <a:xfrm>
            <a:off x="571500" y="1777999"/>
            <a:ext cx="6477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1E1E"/>
                </a:solidFill>
                <a:latin typeface="Arial" panose="020B0604020202020204" pitchFamily="34" charset="0"/>
              </a:rPr>
              <a:t>Financial pressure becomes an education-continuity crisis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071FD-262D-A7D3-2058-817880AD8215}"/>
              </a:ext>
            </a:extLst>
          </p:cNvPr>
          <p:cNvSpPr txBox="1"/>
          <p:nvPr/>
        </p:nvSpPr>
        <p:spPr>
          <a:xfrm>
            <a:off x="571500" y="2451100"/>
            <a:ext cx="64770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Students from low-income or unstable-income households face fee, transport, device, document and family-income barriers. Migrant children, first-generation learners and students from daily-wage families face overlapping risks.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9CC705-4A7D-B07D-EB5D-78B1BE2D6D08}"/>
              </a:ext>
            </a:extLst>
          </p:cNvPr>
          <p:cNvSpPr/>
          <p:nvPr/>
        </p:nvSpPr>
        <p:spPr>
          <a:xfrm>
            <a:off x="571500" y="3632200"/>
            <a:ext cx="2006600" cy="965200"/>
          </a:xfrm>
          <a:prstGeom prst="roundRect">
            <a:avLst/>
          </a:prstGeom>
          <a:gradFill flip="none" rotWithShape="1">
            <a:gsLst>
              <a:gs pos="0">
                <a:srgbClr val="4E301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Arial" panose="020B0604020202020204" pitchFamily="34" charset="0"/>
              </a:rPr>
              <a:t>11.5%</a:t>
            </a:r>
          </a:p>
          <a:p>
            <a:pPr algn="ctr"/>
            <a:r>
              <a:rPr lang="en-US" sz="1150" b="1">
                <a:solidFill>
                  <a:srgbClr val="FFFFFF"/>
                </a:solidFill>
                <a:latin typeface="Arial" panose="020B0604020202020204" pitchFamily="34" charset="0"/>
              </a:rPr>
              <a:t>Secondary dropout rate in India, 2024-25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C5443-5350-FD7D-0EB5-0F6F23920C2B}"/>
              </a:ext>
            </a:extLst>
          </p:cNvPr>
          <p:cNvSpPr txBox="1"/>
          <p:nvPr/>
        </p:nvSpPr>
        <p:spPr>
          <a:xfrm>
            <a:off x="2794000" y="3594100"/>
            <a:ext cx="42545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EduShield creates one Education Continuity Case for each student at risk. It identifies the barrier, matches verified support, assists the application and assigns a responsible counsellor. The case closes only after support reaches the student and attendance becomes stable.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72EF4-4FC7-0E1D-F616-E0B5B8643BA6}"/>
              </a:ext>
            </a:extLst>
          </p:cNvPr>
          <p:cNvSpPr txBox="1"/>
          <p:nvPr/>
        </p:nvSpPr>
        <p:spPr>
          <a:xfrm>
            <a:off x="571500" y="4952999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WHY IT IS DIFFERENT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0C316-06CE-D468-6663-FB286F541EDE}"/>
              </a:ext>
            </a:extLst>
          </p:cNvPr>
          <p:cNvSpPr txBox="1"/>
          <p:nvPr/>
        </p:nvSpPr>
        <p:spPr>
          <a:xfrm>
            <a:off x="571500" y="5283200"/>
            <a:ext cx="6477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E1E1E"/>
                </a:solidFill>
                <a:latin typeface="Arial" panose="020B0604020202020204" pitchFamily="34" charset="0"/>
              </a:rPr>
              <a:t>Opportunity discovery + assisted application + human case ownership + outcome tracking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F3DC2A-5352-7D05-B5E5-266E5D2F616E}"/>
              </a:ext>
            </a:extLst>
          </p:cNvPr>
          <p:cNvSpPr/>
          <p:nvPr/>
        </p:nvSpPr>
        <p:spPr>
          <a:xfrm>
            <a:off x="7493000" y="1828800"/>
            <a:ext cx="4000500" cy="3708400"/>
          </a:xfrm>
          <a:prstGeom prst="rect">
            <a:avLst/>
          </a:prstGeom>
          <a:noFill/>
          <a:ln w="19050" cap="flat" cmpd="sng" algn="ctr">
            <a:solidFill>
              <a:srgbClr val="999999"/>
            </a:solidFill>
            <a:prstDash val="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999999"/>
                </a:solidFill>
                <a:latin typeface="Arial" panose="020B0604020202020204" pitchFamily="34" charset="0"/>
              </a:rPr>
              <a:t>FLOW DIAGRAM</a:t>
            </a:r>
          </a:p>
          <a:p>
            <a:pPr algn="ctr"/>
            <a:r>
              <a:rPr lang="en-US" sz="1500" b="1">
                <a:solidFill>
                  <a:srgbClr val="999999"/>
                </a:solidFill>
                <a:latin typeface="Arial" panose="020B0604020202020204" pitchFamily="34" charset="0"/>
              </a:rPr>
              <a:t>Team to add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41D8DE-379E-DB66-E65B-4EF6A41858D7}"/>
              </a:ext>
            </a:extLst>
          </p:cNvPr>
          <p:cNvSpPr txBox="1"/>
          <p:nvPr/>
        </p:nvSpPr>
        <p:spPr>
          <a:xfrm>
            <a:off x="571500" y="1422399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CASE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345F45-D252-A84D-0853-60F876266443}"/>
              </a:ext>
            </a:extLst>
          </p:cNvPr>
          <p:cNvSpPr/>
          <p:nvPr/>
        </p:nvSpPr>
        <p:spPr>
          <a:xfrm>
            <a:off x="5715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Report 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FC23F-01A9-E367-496E-0A8DF2949814}"/>
              </a:ext>
            </a:extLst>
          </p:cNvPr>
          <p:cNvSpPr txBox="1"/>
          <p:nvPr/>
        </p:nvSpPr>
        <p:spPr>
          <a:xfrm>
            <a:off x="24892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ED5CC6-56AB-54D5-08E0-F7E8854C2FF2}"/>
              </a:ext>
            </a:extLst>
          </p:cNvPr>
          <p:cNvSpPr/>
          <p:nvPr/>
        </p:nvSpPr>
        <p:spPr>
          <a:xfrm>
            <a:off x="27813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Assess needs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67AA1-BE09-D4B7-C01A-01412B090F99}"/>
              </a:ext>
            </a:extLst>
          </p:cNvPr>
          <p:cNvSpPr txBox="1"/>
          <p:nvPr/>
        </p:nvSpPr>
        <p:spPr>
          <a:xfrm>
            <a:off x="46990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C9D385-DF5D-3BB7-C60A-73C9C1043D7B}"/>
              </a:ext>
            </a:extLst>
          </p:cNvPr>
          <p:cNvSpPr/>
          <p:nvPr/>
        </p:nvSpPr>
        <p:spPr>
          <a:xfrm>
            <a:off x="49911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Match support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23016A-67BC-48AE-F73D-7301BD3FF61A}"/>
              </a:ext>
            </a:extLst>
          </p:cNvPr>
          <p:cNvSpPr txBox="1"/>
          <p:nvPr/>
        </p:nvSpPr>
        <p:spPr>
          <a:xfrm>
            <a:off x="69088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7953F6-7BA7-5CB0-4EE4-88FF9CEA5262}"/>
              </a:ext>
            </a:extLst>
          </p:cNvPr>
          <p:cNvSpPr/>
          <p:nvPr/>
        </p:nvSpPr>
        <p:spPr>
          <a:xfrm>
            <a:off x="72009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Assign owner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BED5C7-CAC3-A9D2-A4CE-B52D01552E3A}"/>
              </a:ext>
            </a:extLst>
          </p:cNvPr>
          <p:cNvSpPr txBox="1"/>
          <p:nvPr/>
        </p:nvSpPr>
        <p:spPr>
          <a:xfrm>
            <a:off x="91186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44DF45-7B0C-CFA1-7BFF-08F896469A65}"/>
              </a:ext>
            </a:extLst>
          </p:cNvPr>
          <p:cNvSpPr/>
          <p:nvPr/>
        </p:nvSpPr>
        <p:spPr>
          <a:xfrm>
            <a:off x="94107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4E301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Arial" panose="020B0604020202020204" pitchFamily="34" charset="0"/>
              </a:rPr>
              <a:t>Track outcome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05279-C76F-6A4A-8371-AC8E7D3199A9}"/>
              </a:ext>
            </a:extLst>
          </p:cNvPr>
          <p:cNvSpPr txBox="1"/>
          <p:nvPr/>
        </p:nvSpPr>
        <p:spPr>
          <a:xfrm>
            <a:off x="571500" y="2908299"/>
            <a:ext cx="190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PLATFORM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E3825E-6E07-E98E-F92D-299231D99CA1}"/>
              </a:ext>
            </a:extLst>
          </p:cNvPr>
          <p:cNvSpPr txBox="1"/>
          <p:nvPr/>
        </p:nvSpPr>
        <p:spPr>
          <a:xfrm>
            <a:off x="571500" y="3263900"/>
            <a:ext cx="5143500" cy="208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Student, parent and institution intake with consent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Scholarship and support catalogue with eligibility rules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Document checklist, application tracker and alerts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Counsellor case queue with escalation and audit history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Attendance and continuation evidence after intervention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59558-A364-F825-CD2C-28B1C017E021}"/>
              </a:ext>
            </a:extLst>
          </p:cNvPr>
          <p:cNvSpPr txBox="1"/>
          <p:nvPr/>
        </p:nvSpPr>
        <p:spPr>
          <a:xfrm>
            <a:off x="6413500" y="2908299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AI ASSISTANCE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2133E-D268-06A1-8A8C-EA432921EF69}"/>
              </a:ext>
            </a:extLst>
          </p:cNvPr>
          <p:cNvSpPr txBox="1"/>
          <p:nvPr/>
        </p:nvSpPr>
        <p:spPr>
          <a:xfrm>
            <a:off x="6413500" y="3263900"/>
            <a:ext cx="5143500" cy="180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Eligibility matching with reasons, not opaque decisions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Risk prioritisation from attendance and unresolved barriers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Regional-language explanations and document guidance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Human approval for every high-impact recommendation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B16500-2A73-65FB-9775-F2547BFF8299}"/>
              </a:ext>
            </a:extLst>
          </p:cNvPr>
          <p:cNvSpPr txBox="1"/>
          <p:nvPr/>
        </p:nvSpPr>
        <p:spPr>
          <a:xfrm>
            <a:off x="571500" y="4606131"/>
            <a:ext cx="10985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 dirty="0">
                <a:solidFill>
                  <a:srgbClr val="555555"/>
                </a:solidFill>
                <a:latin typeface="Arial" panose="020B0604020202020204" pitchFamily="34" charset="0"/>
              </a:rPr>
              <a:t>Prototype stack: React/Flutter | Django REST | PostgreSQL | rules + language model | SMS/IVR | role-based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9D676D-92CC-F38C-0C9B-51CBBC6AAF74}"/>
              </a:ext>
            </a:extLst>
          </p:cNvPr>
          <p:cNvSpPr txBox="1"/>
          <p:nvPr/>
        </p:nvSpPr>
        <p:spPr>
          <a:xfrm>
            <a:off x="571500" y="1422399"/>
            <a:ext cx="10414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1E1E"/>
                </a:solidFill>
                <a:latin typeface="Arial" panose="020B0604020202020204" pitchFamily="34" charset="0"/>
              </a:rPr>
              <a:t>A focused pilot can validate the workflow before institutional integration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198B9-5569-DBF2-6B03-09E9220ED87A}"/>
              </a:ext>
            </a:extLst>
          </p:cNvPr>
          <p:cNvSpPr txBox="1"/>
          <p:nvPr/>
        </p:nvSpPr>
        <p:spPr>
          <a:xfrm>
            <a:off x="571500" y="2146299"/>
            <a:ext cx="2667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PILOT BOUNDARY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43DCA-2F34-73DD-A6C1-3A805989436C}"/>
              </a:ext>
            </a:extLst>
          </p:cNvPr>
          <p:cNvSpPr txBox="1"/>
          <p:nvPr/>
        </p:nvSpPr>
        <p:spPr>
          <a:xfrm>
            <a:off x="571500" y="2514599"/>
            <a:ext cx="48260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One school or college cluster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Three support types: fees, transport and devices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Student, counsellor and administrator roles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Mock scheme data plus links to official portals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Eight-week continuity follow-up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D7E35-FF1D-56EA-22ED-D871E4DBA6AE}"/>
              </a:ext>
            </a:extLst>
          </p:cNvPr>
          <p:cNvSpPr txBox="1"/>
          <p:nvPr/>
        </p:nvSpPr>
        <p:spPr>
          <a:xfrm>
            <a:off x="6032500" y="2146299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RISKS AND CONTROLS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FD71A-183C-1A1D-D852-E3D68E30D702}"/>
              </a:ext>
            </a:extLst>
          </p:cNvPr>
          <p:cNvSpPr txBox="1"/>
          <p:nvPr/>
        </p:nvSpPr>
        <p:spPr>
          <a:xfrm>
            <a:off x="6032500" y="2514600"/>
            <a:ext cx="5143500" cy="254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False risk flags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Human review before outreach</a:t>
            </a:r>
          </a:p>
          <a:p>
            <a:endParaRPr lang="en-US" sz="11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Sensitive financial data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Consent, minimum data and role-based access</a:t>
            </a:r>
          </a:p>
          <a:p>
            <a:endParaRPr lang="en-US" sz="11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Outdated eligibility rules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Versioned sources and administrator approval</a:t>
            </a:r>
          </a:p>
          <a:p>
            <a:endParaRPr lang="en-US" sz="11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Support matched but not received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Case stays open until delivery is verified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03D91-41EB-12BB-2339-981177B4C6AC}"/>
              </a:ext>
            </a:extLst>
          </p:cNvPr>
          <p:cNvSpPr txBox="1"/>
          <p:nvPr/>
        </p:nvSpPr>
        <p:spPr>
          <a:xfrm>
            <a:off x="571500" y="5067299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Viability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61A38-34AB-6CBD-D91E-C9FF1BDBC79C}"/>
              </a:ext>
            </a:extLst>
          </p:cNvPr>
          <p:cNvSpPr txBox="1"/>
          <p:nvPr/>
        </p:nvSpPr>
        <p:spPr>
          <a:xfrm>
            <a:off x="571500" y="5410200"/>
            <a:ext cx="10604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E1E1E"/>
                </a:solidFill>
                <a:latin typeface="Arial" panose="020B0604020202020204" pitchFamily="34" charset="0"/>
              </a:rPr>
              <a:t>Uses existing schemes and institutional welfare processes. EduShield adds coordinated discovery, ownership and outcome tracking.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DC373D-1882-AFA3-8383-1E12C94AC754}"/>
              </a:ext>
            </a:extLst>
          </p:cNvPr>
          <p:cNvSpPr txBox="1"/>
          <p:nvPr/>
        </p:nvSpPr>
        <p:spPr>
          <a:xfrm>
            <a:off x="571500" y="1422399"/>
            <a:ext cx="106045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1E1E"/>
                </a:solidFill>
                <a:latin typeface="Arial" panose="020B0604020202020204" pitchFamily="34" charset="0"/>
              </a:rPr>
              <a:t>Success means fewer students lose education because support arrived too late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81EBB-2A4F-A732-B89D-464920D64CA1}"/>
              </a:ext>
            </a:extLst>
          </p:cNvPr>
          <p:cNvSpPr txBox="1"/>
          <p:nvPr/>
        </p:nvSpPr>
        <p:spPr>
          <a:xfrm>
            <a:off x="571500" y="2197099"/>
            <a:ext cx="292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STUDENT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142CF-932E-ECD0-38EB-B146EF2DAA86}"/>
              </a:ext>
            </a:extLst>
          </p:cNvPr>
          <p:cNvSpPr txBox="1"/>
          <p:nvPr/>
        </p:nvSpPr>
        <p:spPr>
          <a:xfrm>
            <a:off x="571500" y="2578100"/>
            <a:ext cx="48895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Faster discovery of relevant financial and institutional help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Less confusion around eligibility, documents and deadlines</a:t>
            </a:r>
          </a:p>
          <a:p>
            <a:r>
              <a:rPr lang="en-US" sz="1250">
                <a:solidFill>
                  <a:srgbClr val="363636"/>
                </a:solidFill>
                <a:latin typeface="Arial" panose="020B0604020202020204" pitchFamily="34" charset="0"/>
              </a:rPr>
              <a:t>• Earlier intervention before prolonged absence or withdrawal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15FF5-6423-148F-DB39-3446F01B89B2}"/>
              </a:ext>
            </a:extLst>
          </p:cNvPr>
          <p:cNvSpPr txBox="1"/>
          <p:nvPr/>
        </p:nvSpPr>
        <p:spPr>
          <a:xfrm>
            <a:off x="6350000" y="2197099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INSTITUTION OUTCOMES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51A47-CC63-E322-08A8-5EF1A4B92442}"/>
              </a:ext>
            </a:extLst>
          </p:cNvPr>
          <p:cNvSpPr txBox="1"/>
          <p:nvPr/>
        </p:nvSpPr>
        <p:spPr>
          <a:xfrm>
            <a:off x="6350000" y="2578099"/>
            <a:ext cx="48895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dirty="0">
                <a:solidFill>
                  <a:srgbClr val="363636"/>
                </a:solidFill>
                <a:latin typeface="Arial" panose="020B0604020202020204" pitchFamily="34" charset="0"/>
              </a:rPr>
              <a:t>• One queue for students requiring attention</a:t>
            </a:r>
          </a:p>
          <a:p>
            <a:r>
              <a:rPr lang="en-US" sz="1250" dirty="0">
                <a:solidFill>
                  <a:srgbClr val="363636"/>
                </a:solidFill>
                <a:latin typeface="Arial" panose="020B0604020202020204" pitchFamily="34" charset="0"/>
              </a:rPr>
              <a:t>• Clear ownership and escalation for unresolved cases</a:t>
            </a:r>
          </a:p>
          <a:p>
            <a:r>
              <a:rPr lang="en-US" sz="1250" dirty="0">
                <a:solidFill>
                  <a:srgbClr val="363636"/>
                </a:solidFill>
                <a:latin typeface="Arial" panose="020B0604020202020204" pitchFamily="34" charset="0"/>
              </a:rPr>
              <a:t>• Evidence showing which interventions restored continuity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1C00E-4925-83FC-6F39-FB13A652A5BE}"/>
              </a:ext>
            </a:extLst>
          </p:cNvPr>
          <p:cNvSpPr txBox="1"/>
          <p:nvPr/>
        </p:nvSpPr>
        <p:spPr>
          <a:xfrm>
            <a:off x="571500" y="4470399"/>
            <a:ext cx="444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MEASURABLE PILOT INDICATORS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413F92-A935-50FC-A9D2-881FD72D7A5D}"/>
              </a:ext>
            </a:extLst>
          </p:cNvPr>
          <p:cNvSpPr txBox="1"/>
          <p:nvPr/>
        </p:nvSpPr>
        <p:spPr>
          <a:xfrm>
            <a:off x="571500" y="4889500"/>
            <a:ext cx="10668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 dirty="0">
                <a:solidFill>
                  <a:srgbClr val="555555"/>
                </a:solidFill>
                <a:latin typeface="Arial" panose="020B0604020202020204" pitchFamily="34" charset="0"/>
              </a:rPr>
              <a:t>Time to first support action     Application completion rate     Support delivery rate     Attendance recovery     Cases closed with verified continuity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DA406-6770-DEC6-A9CF-A45099B78FCD}"/>
              </a:ext>
            </a:extLst>
          </p:cNvPr>
          <p:cNvSpPr txBox="1"/>
          <p:nvPr/>
        </p:nvSpPr>
        <p:spPr>
          <a:xfrm>
            <a:off x="539750" y="5545138"/>
            <a:ext cx="1066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dirty="0">
                <a:solidFill>
                  <a:srgbClr val="777777"/>
                </a:solidFill>
                <a:latin typeface="Arial" panose="020B0604020202020204" pitchFamily="34" charset="0"/>
              </a:rPr>
              <a:t>Primary beneficiaries: economically vulnerable school and college students, including migrant and first-generation learners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A68FE-D874-1C5E-3C9F-1F275B188428}"/>
              </a:ext>
            </a:extLst>
          </p:cNvPr>
          <p:cNvSpPr txBox="1"/>
          <p:nvPr/>
        </p:nvSpPr>
        <p:spPr>
          <a:xfrm>
            <a:off x="571500" y="1422399"/>
            <a:ext cx="9144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E1E1E"/>
                </a:solidFill>
                <a:latin typeface="Arial" panose="020B0604020202020204" pitchFamily="34" charset="0"/>
              </a:rPr>
              <a:t>Evidence base and systems considered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AFD19-0FCE-C093-CA90-CA2C90FBE217}"/>
              </a:ext>
            </a:extLst>
          </p:cNvPr>
          <p:cNvSpPr txBox="1"/>
          <p:nvPr/>
        </p:nvSpPr>
        <p:spPr>
          <a:xfrm>
            <a:off x="571500" y="2133599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CURRENT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889E0-3498-9E80-6AAC-C44A5CEEF394}"/>
              </a:ext>
            </a:extLst>
          </p:cNvPr>
          <p:cNvSpPr txBox="1"/>
          <p:nvPr/>
        </p:nvSpPr>
        <p:spPr>
          <a:xfrm>
            <a:off x="571500" y="2489199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1. UDISE+ 2024-25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India's secondary dropout rate: 11.5%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https://education.gov.in/</a:t>
            </a:r>
          </a:p>
          <a:p>
            <a:endParaRPr lang="en-US" sz="11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2. UNICEF: Understanding Child Migration in India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Education continuity risks for migrant children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https://unicef.org/india/reports/understanding-child-migration-india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4F975-5E51-5787-BC7C-898C434C9985}"/>
              </a:ext>
            </a:extLst>
          </p:cNvPr>
          <p:cNvSpPr txBox="1"/>
          <p:nvPr/>
        </p:nvSpPr>
        <p:spPr>
          <a:xfrm>
            <a:off x="6350000" y="2133599"/>
            <a:ext cx="406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EXISTING SYSTEMS AND GAP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738E0D-5C4B-7F23-1FBF-85CDB76915E8}"/>
              </a:ext>
            </a:extLst>
          </p:cNvPr>
          <p:cNvSpPr txBox="1"/>
          <p:nvPr/>
        </p:nvSpPr>
        <p:spPr>
          <a:xfrm>
            <a:off x="6350000" y="2489200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3. APAAR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Portable academic identity and records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https://apaar.education.gov.in/</a:t>
            </a:r>
          </a:p>
          <a:p>
            <a:endParaRPr lang="en-US" sz="11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4. National Scholarship Portal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Scholarship application infrastructure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https://scholarships.gov.in/</a:t>
            </a:r>
          </a:p>
          <a:p>
            <a:endParaRPr lang="en-US" sz="11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Design gap examined: support discovery, assigned case ownership and verified continuity after assistance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69ABFB-F3F2-5768-EE45-7B0B8EA9E78B}"/>
              </a:ext>
            </a:extLst>
          </p:cNvPr>
          <p:cNvSpPr txBox="1"/>
          <p:nvPr/>
        </p:nvSpPr>
        <p:spPr>
          <a:xfrm>
            <a:off x="571500" y="5638800"/>
            <a:ext cx="10731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US" sz="1150" b="1" dirty="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7645</TotalTime>
  <Words>742</Words>
  <Application>Microsoft Office PowerPoint</Application>
  <PresentationFormat>Widescreen</PresentationFormat>
  <Paragraphs>121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EDUSHIELD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Keyur Sherke</cp:lastModifiedBy>
  <cp:revision>150</cp:revision>
  <dcterms:created xsi:type="dcterms:W3CDTF">2013-12-12T18:46:50Z</dcterms:created>
  <dcterms:modified xsi:type="dcterms:W3CDTF">2026-09-10T12:38:22Z</dcterms:modified>
  <cp:category/>
</cp:coreProperties>
</file>