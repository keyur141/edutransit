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Sources: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UDISE+ 2024-25 dropout data: https://www.education.gov.in/sites/upload_files/mhrd/files/parliament_annexure_en/RSUQ_2133_en.pdf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UNICEF child migration research: https://www.unicef.org/india/reports/understanding-child-migration-india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Official references: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https://www.education.gov.in/sites/upload_files/mhrd/files/parliament_annexure_en/RSUQ_2133_en.pdf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https://www.unicef.org/india/reports/understanding-child-migration-india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https://apaar.education.gov.in/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https://scholarships.gov.in/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/>
          <a:lstStyle/>
          <a:p>
            <a:r>
              <a:rPr lang="en-US" sz="31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GAPMAP</a:t>
            </a:r>
            <a:endParaRPr lang="en-IN" sz="3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 wrap="square"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Statement ID - SIH26207</a:t>
            </a:r>
          </a:p>
          <a:p>
            <a:r>
              <a:rPr lang="en-US" dirty="0"/>
              <a:t>Problem Statement Title - Student Innovation: Smart Education</a:t>
            </a:r>
          </a:p>
          <a:p>
            <a:r>
              <a:rPr lang="en-US" dirty="0"/>
              <a:t>Theme - Smart Education</a:t>
            </a:r>
          </a:p>
          <a:p>
            <a:r>
              <a:rPr lang="en-US" dirty="0"/>
              <a:t>PS Category - Software</a:t>
            </a:r>
          </a:p>
          <a:p>
            <a:r>
              <a:rPr lang="en-US" dirty="0"/>
              <a:t>Team ID - [TO ADD]</a:t>
            </a:r>
          </a:p>
          <a:p>
            <a:r>
              <a:rPr lang="en-US" dirty="0"/>
              <a:t>Team Name - Bravo 404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60E849-04A2-E469-9635-61C2179FF7F1}"/>
              </a:ext>
            </a:extLst>
          </p:cNvPr>
          <p:cNvSpPr txBox="1"/>
          <p:nvPr/>
        </p:nvSpPr>
        <p:spPr>
          <a:xfrm>
            <a:off x="3175000" y="5460999"/>
            <a:ext cx="5842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E1E1E"/>
                </a:solidFill>
                <a:latin typeface="Arial" panose="020B0604020202020204" pitchFamily="34" charset="0"/>
              </a:rPr>
              <a:t>Curriculum Transition and Learning Recovery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/>
          <a:lstStyle/>
          <a:p>
            <a:pPr eaLnBrk="1" hangingPunct="1"/>
            <a:r>
              <a:rPr lang="en-US" sz="2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GAPMAP</a:t>
            </a:r>
            <a:endParaRPr lang="en-US" sz="2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CBB48A-78CF-F310-7CD2-34245F6B2DEA}"/>
              </a:ext>
            </a:extLst>
          </p:cNvPr>
          <p:cNvSpPr txBox="1"/>
          <p:nvPr/>
        </p:nvSpPr>
        <p:spPr>
          <a:xfrm>
            <a:off x="571500" y="1295399"/>
            <a:ext cx="6350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4FFBF7-DBEB-0527-D282-A28880F226B9}"/>
              </a:ext>
            </a:extLst>
          </p:cNvPr>
          <p:cNvSpPr txBox="1"/>
          <p:nvPr/>
        </p:nvSpPr>
        <p:spPr>
          <a:xfrm>
            <a:off x="571500" y="1777999"/>
            <a:ext cx="6477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Enrollment can continue while learning readiness breaks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7071FD-262D-A7D3-2058-817880AD8215}"/>
              </a:ext>
            </a:extLst>
          </p:cNvPr>
          <p:cNvSpPr txBox="1"/>
          <p:nvPr/>
        </p:nvSpPr>
        <p:spPr>
          <a:xfrm>
            <a:off x="571500" y="2451100"/>
            <a:ext cx="64770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• Board or institution change</a:t>
            </a:r>
          </a:p>
          <a:p>
            <a:r>
              <a:t>• Medium-of-instruction change</a:t>
            </a:r>
          </a:p>
          <a:p>
            <a:r>
              <a:t>• Interrupted learning</a:t>
            </a:r>
          </a:p>
          <a:p>
            <a:r>
              <a:t>• Different topic sequence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9CC705-4A7D-B07D-EB5D-78B1BE2D6D08}"/>
              </a:ext>
            </a:extLst>
          </p:cNvPr>
          <p:cNvSpPr/>
          <p:nvPr/>
        </p:nvSpPr>
        <p:spPr>
          <a:xfrm>
            <a:off x="571500" y="3632200"/>
            <a:ext cx="2006600" cy="965200"/>
          </a:xfrm>
          <a:prstGeom prst="roundRect">
            <a:avLst/>
          </a:prstGeom>
          <a:gradFill flip="none" rotWithShape="1">
            <a:gsLst>
              <a:gs pos="0">
                <a:srgbClr val="4E301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WHAT IS MISSED</a:t>
            </a:r>
          </a:p>
          <a:p>
            <a:r>
              <a:t>Low score ≠ root cause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2C5443-5350-FD7D-0EB5-0F6F23920C2B}"/>
              </a:ext>
            </a:extLst>
          </p:cNvPr>
          <p:cNvSpPr txBox="1"/>
          <p:nvPr/>
        </p:nvSpPr>
        <p:spPr>
          <a:xfrm>
            <a:off x="2794000" y="3594100"/>
            <a:ext cx="4254500" cy="1104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A test shows that a learner is struggling, but not:</a:t>
            </a:r>
          </a:p>
          <a:p>
            <a:r>
              <a:t>• which prerequisite failed</a:t>
            </a:r>
          </a:p>
          <a:p>
            <a:r>
              <a:t>• whether language caused the error</a:t>
            </a:r>
          </a:p>
          <a:p>
            <a:r>
              <a:t>• what to teach next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E72EF4-4FC7-0E1D-F616-E0B5B8643BA6}"/>
              </a:ext>
            </a:extLst>
          </p:cNvPr>
          <p:cNvSpPr txBox="1"/>
          <p:nvPr/>
        </p:nvSpPr>
        <p:spPr>
          <a:xfrm>
            <a:off x="571500" y="4952999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GAPMAP RESPONSE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B0C316-06CE-D468-6663-FB286F541EDE}"/>
              </a:ext>
            </a:extLst>
          </p:cNvPr>
          <p:cNvSpPr txBox="1"/>
          <p:nvPr/>
        </p:nvSpPr>
        <p:spPr>
          <a:xfrm>
            <a:off x="571500" y="5283200"/>
            <a:ext cx="6477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Find the earliest missing prerequisite and build the shortest teacher-reviewed bridge.</a:t>
            </a:r>
          </a:p>
        </p:txBody>
      </p:sp>
      <p:pic>
        <p:nvPicPr>
          <p:cNvPr id="16" name="GapMap Workflow" descr="GapMap workflow: compare curricula, diagnose, locate prerequisite gaps, build a minimum bridge path and reassess readiness.">
            <a:extLst>
              <a:ext uri="{FF2B5EF4-FFF2-40B4-BE49-F238E27FC236}">
                <a16:creationId xmlns:a16="http://schemas.microsoft.com/office/drawing/2014/main" id="{87D85B2E-1C5C-AF4A-6225-19B7E23008A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639050" y="1828800"/>
            <a:ext cx="3708400" cy="370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GAPMAP DOMAIN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41D8DE-379E-DB66-E65B-4EF6A41858D7}"/>
              </a:ext>
            </a:extLst>
          </p:cNvPr>
          <p:cNvSpPr txBox="1"/>
          <p:nvPr/>
        </p:nvSpPr>
        <p:spPr>
          <a:xfrm>
            <a:off x="571500" y="1422399"/>
            <a:ext cx="279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SCHOOL CURRICULUM TRANSITION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345F45-D252-A84D-0853-60F876266443}"/>
              </a:ext>
            </a:extLst>
          </p:cNvPr>
          <p:cNvSpPr/>
          <p:nvPr/>
        </p:nvSpPr>
        <p:spPr>
          <a:xfrm>
            <a:off x="5715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Source + target curriculum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FC23F-01A9-E367-496E-0A8DF2949814}"/>
              </a:ext>
            </a:extLst>
          </p:cNvPr>
          <p:cNvSpPr txBox="1"/>
          <p:nvPr/>
        </p:nvSpPr>
        <p:spPr>
          <a:xfrm>
            <a:off x="24892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ED5CC6-56AB-54D5-08E0-F7E8854C2FF2}"/>
              </a:ext>
            </a:extLst>
          </p:cNvPr>
          <p:cNvSpPr/>
          <p:nvPr/>
        </p:nvSpPr>
        <p:spPr>
          <a:xfrm>
            <a:off x="27813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Target topic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67AA1-BE09-D4B7-C01A-01412B090F99}"/>
              </a:ext>
            </a:extLst>
          </p:cNvPr>
          <p:cNvSpPr txBox="1"/>
          <p:nvPr/>
        </p:nvSpPr>
        <p:spPr>
          <a:xfrm>
            <a:off x="46990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C9D385-DF5D-3BB7-C60A-73C9C1043D7B}"/>
              </a:ext>
            </a:extLst>
          </p:cNvPr>
          <p:cNvSpPr/>
          <p:nvPr/>
        </p:nvSpPr>
        <p:spPr>
          <a:xfrm>
            <a:off x="49911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Prerequisite graph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23016A-67BC-48AE-F73D-7301BD3FF61A}"/>
              </a:ext>
            </a:extLst>
          </p:cNvPr>
          <p:cNvSpPr txBox="1"/>
          <p:nvPr/>
        </p:nvSpPr>
        <p:spPr>
          <a:xfrm>
            <a:off x="69088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7953F6-7BA7-5CB0-4EE4-88FF9CEA5262}"/>
              </a:ext>
            </a:extLst>
          </p:cNvPr>
          <p:cNvSpPr/>
          <p:nvPr/>
        </p:nvSpPr>
        <p:spPr>
          <a:xfrm>
            <a:off x="72009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Adaptive diagnostic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BED5C7-CAC3-A9D2-A4CE-B52D01552E3A}"/>
              </a:ext>
            </a:extLst>
          </p:cNvPr>
          <p:cNvSpPr txBox="1"/>
          <p:nvPr/>
        </p:nvSpPr>
        <p:spPr>
          <a:xfrm>
            <a:off x="91186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44DF45-7B0C-CFA1-7BFF-08F896469A65}"/>
              </a:ext>
            </a:extLst>
          </p:cNvPr>
          <p:cNvSpPr/>
          <p:nvPr/>
        </p:nvSpPr>
        <p:spPr>
          <a:xfrm>
            <a:off x="94107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4E301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Bridge + reassess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005279-C76F-6A4A-8371-AC8E7D3199A9}"/>
              </a:ext>
            </a:extLst>
          </p:cNvPr>
          <p:cNvSpPr txBox="1"/>
          <p:nvPr/>
        </p:nvSpPr>
        <p:spPr>
          <a:xfrm>
            <a:off x="571500" y="2908299"/>
            <a:ext cx="190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PROTOTYPE INPUTS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E3825E-6E07-E98E-F92D-299231D99CA1}"/>
              </a:ext>
            </a:extLst>
          </p:cNvPr>
          <p:cNvSpPr txBox="1"/>
          <p:nvPr/>
        </p:nvSpPr>
        <p:spPr>
          <a:xfrm>
            <a:off x="571500" y="3263900"/>
            <a:ext cx="5143500" cy="208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• Class 8 → 9 mathematics</a:t>
            </a:r>
          </a:p>
          <a:p>
            <a:r>
              <a:t>• Source and destination curricula</a:t>
            </a:r>
          </a:p>
          <a:p>
            <a:r>
              <a:t>• About 25 concepts</a:t>
            </a:r>
          </a:p>
          <a:p>
            <a:r>
              <a:t>• English and Hindi prompts</a:t>
            </a:r>
          </a:p>
          <a:p>
            <a:r>
              <a:t>• Synthetic learner profiles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59558-A364-F825-CD2C-28B1C017E021}"/>
              </a:ext>
            </a:extLst>
          </p:cNvPr>
          <p:cNvSpPr txBox="1"/>
          <p:nvPr/>
        </p:nvSpPr>
        <p:spPr>
          <a:xfrm>
            <a:off x="6413500" y="2908299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ASSISTED, NOT AUTOMATED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2133E-D268-06A1-8A8C-EA432921EF69}"/>
              </a:ext>
            </a:extLst>
          </p:cNvPr>
          <p:cNvSpPr txBox="1"/>
          <p:nvPr/>
        </p:nvSpPr>
        <p:spPr>
          <a:xfrm>
            <a:off x="6413500" y="3263900"/>
            <a:ext cx="5143500" cy="180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• Suggests mappings and language variants</a:t>
            </a:r>
          </a:p>
          <a:p>
            <a:r>
              <a:t>• Retrieves approved evidence</a:t>
            </a:r>
          </a:p>
          <a:p>
            <a:r>
              <a:t>• Shows reasoning and confidence</a:t>
            </a:r>
          </a:p>
          <a:p>
            <a:r>
              <a:t>• Teacher remains the final reviewer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B16500-2A73-65FB-9775-F2547BFF8299}"/>
              </a:ext>
            </a:extLst>
          </p:cNvPr>
          <p:cNvSpPr txBox="1"/>
          <p:nvPr/>
        </p:nvSpPr>
        <p:spPr>
          <a:xfrm>
            <a:off x="571500" y="4606131"/>
            <a:ext cx="10985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Prototype: React dashboard + Django API + deterministic graph logic + guarded RAG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PROJECT DOMAIN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9D676D-92CC-F38C-0C9B-51CBBC6AAF74}"/>
              </a:ext>
            </a:extLst>
          </p:cNvPr>
          <p:cNvSpPr txBox="1"/>
          <p:nvPr/>
        </p:nvSpPr>
        <p:spPr>
          <a:xfrm>
            <a:off x="571500" y="1422399"/>
            <a:ext cx="10414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One bounded transition proves the core idea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198B9-5569-DBF2-6B03-09E9220ED87A}"/>
              </a:ext>
            </a:extLst>
          </p:cNvPr>
          <p:cNvSpPr txBox="1"/>
          <p:nvPr/>
        </p:nvSpPr>
        <p:spPr>
          <a:xfrm>
            <a:off x="571500" y="2146299"/>
            <a:ext cx="2667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DOMAIN BOUNDARY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43DCA-2F34-73DD-A6C1-3A805989436C}"/>
              </a:ext>
            </a:extLst>
          </p:cNvPr>
          <p:cNvSpPr txBox="1"/>
          <p:nvPr/>
        </p:nvSpPr>
        <p:spPr>
          <a:xfrm>
            <a:off x="571500" y="2514599"/>
            <a:ext cx="48260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• Maharashtra Grade 8 → CBSE Grade 9 mathematics</a:t>
            </a:r>
          </a:p>
          <a:p>
            <a:r>
              <a:t>• Target topic: linear equations</a:t>
            </a:r>
          </a:p>
          <a:p>
            <a:r>
              <a:t>• Concepts include integers, ratios and algebra</a:t>
            </a:r>
          </a:p>
          <a:p>
            <a:r>
              <a:t>• Reviewed questions and prerequisite edges</a:t>
            </a:r>
          </a:p>
          <a:p>
            <a:r>
              <a:t>• Synthetic learner profiles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ED7E35-FF1D-56EA-22ED-D871E4DBA6AE}"/>
              </a:ext>
            </a:extLst>
          </p:cNvPr>
          <p:cNvSpPr txBox="1"/>
          <p:nvPr/>
        </p:nvSpPr>
        <p:spPr>
          <a:xfrm>
            <a:off x="6032500" y="2146299"/>
            <a:ext cx="330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OUT OF SCOPE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FD71A-183C-1A1D-D852-E3D68E30D702}"/>
              </a:ext>
            </a:extLst>
          </p:cNvPr>
          <p:cNvSpPr txBox="1"/>
          <p:nvPr/>
        </p:nvSpPr>
        <p:spPr>
          <a:xfrm>
            <a:off x="6032500" y="2514600"/>
            <a:ext cx="5143500" cy="254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• Admission, promotion or retention decisions</a:t>
            </a:r>
          </a:p>
          <a:p>
            <a:r>
              <a:t>• Disability or intelligence diagnosis</a:t>
            </a:r>
          </a:p>
          <a:p>
            <a:r>
              <a:t>• Live government-system integration</a:t>
            </a:r>
          </a:p>
          <a:p>
            <a:r>
              <a:t>• Unreviewed AI mappings or questions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03D91-41EB-12BB-2339-981177B4C6AC}"/>
              </a:ext>
            </a:extLst>
          </p:cNvPr>
          <p:cNvSpPr txBox="1"/>
          <p:nvPr/>
        </p:nvSpPr>
        <p:spPr>
          <a:xfrm>
            <a:off x="571500" y="5067299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CURRENT PROTOTYPE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61A38-34AB-6CBD-D91E-C9FF1BDBC79C}"/>
              </a:ext>
            </a:extLst>
          </p:cNvPr>
          <p:cNvSpPr txBox="1"/>
          <p:nvPr/>
        </p:nvSpPr>
        <p:spPr>
          <a:xfrm>
            <a:off x="571500" y="5410200"/>
            <a:ext cx="10604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Django APIs support adaptive diagnosis, gap maps, bridge plans and guarded RAG retrieval. The presenter runs the prototype locally.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EVALUATION METHOD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DC373D-1882-AFA3-8383-1E12C94AC754}"/>
              </a:ext>
            </a:extLst>
          </p:cNvPr>
          <p:cNvSpPr txBox="1"/>
          <p:nvPr/>
        </p:nvSpPr>
        <p:spPr>
          <a:xfrm>
            <a:off x="571500" y="1422399"/>
            <a:ext cx="106045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Measure whether GapMap finds the right gap with fewer, useful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81EBB-2A4F-A732-B89D-464920D64CA1}"/>
              </a:ext>
            </a:extLst>
          </p:cNvPr>
          <p:cNvSpPr txBox="1"/>
          <p:nvPr/>
        </p:nvSpPr>
        <p:spPr>
          <a:xfrm>
            <a:off x="571500" y="2197099"/>
            <a:ext cx="292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TEST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142CF-932E-ECD0-38EB-B146EF2DAA86}"/>
              </a:ext>
            </a:extLst>
          </p:cNvPr>
          <p:cNvSpPr txBox="1"/>
          <p:nvPr/>
        </p:nvSpPr>
        <p:spPr>
          <a:xfrm>
            <a:off x="571500" y="2578100"/>
            <a:ext cx="48895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• Run prepared synthetic scenarios</a:t>
            </a:r>
          </a:p>
          <a:p>
            <a:r>
              <a:t>• Compare expected and observed results</a:t>
            </a:r>
          </a:p>
          <a:p>
            <a:r>
              <a:t>• Inspect the evidence behind each gap</a:t>
            </a:r>
          </a:p>
          <a:p>
            <a:r>
              <a:t>• Reassess the destination topic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15FF5-6423-148F-DB39-3446F01B89B2}"/>
              </a:ext>
            </a:extLst>
          </p:cNvPr>
          <p:cNvSpPr txBox="1"/>
          <p:nvPr/>
        </p:nvSpPr>
        <p:spPr>
          <a:xfrm>
            <a:off x="6350000" y="2197099"/>
            <a:ext cx="330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KEY MEASURES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51A47-CC63-E322-08A8-5EF1A4B92442}"/>
              </a:ext>
            </a:extLst>
          </p:cNvPr>
          <p:cNvSpPr txBox="1"/>
          <p:nvPr/>
        </p:nvSpPr>
        <p:spPr>
          <a:xfrm>
            <a:off x="6350000" y="2578099"/>
            <a:ext cx="48895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Root-gap accuracy</a:t>
            </a:r>
          </a:p>
          <a:p>
            <a:r>
              <a:t>Questions used vs fixed test</a:t>
            </a:r>
          </a:p>
          <a:p>
            <a:r>
              <a:t>Bridge steps vs full remediation</a:t>
            </a:r>
          </a:p>
          <a:p>
            <a:r>
              <a:t>Teacher agreement</a:t>
            </a:r>
          </a:p>
          <a:p>
            <a:r>
              <a:t>Readiness after reassessment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41C00E-4925-83FC-6F39-FB13A652A5BE}"/>
              </a:ext>
            </a:extLst>
          </p:cNvPr>
          <p:cNvSpPr txBox="1"/>
          <p:nvPr/>
        </p:nvSpPr>
        <p:spPr>
          <a:xfrm>
            <a:off x="571500" y="4470399"/>
            <a:ext cx="444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SUCCESS CRITERIA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413F92-A935-50FC-A9D2-881FD72D7A5D}"/>
              </a:ext>
            </a:extLst>
          </p:cNvPr>
          <p:cNvSpPr txBox="1"/>
          <p:nvPr/>
        </p:nvSpPr>
        <p:spPr>
          <a:xfrm>
            <a:off x="571500" y="4889500"/>
            <a:ext cx="10668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Find the intended gap, avoid unnecessary reteaching, and return “ready” when no bridge is needed.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6DA406-6770-DEC6-A9CF-A45099B78FCD}"/>
              </a:ext>
            </a:extLst>
          </p:cNvPr>
          <p:cNvSpPr txBox="1"/>
          <p:nvPr/>
        </p:nvSpPr>
        <p:spPr>
          <a:xfrm>
            <a:off x="539750" y="5545138"/>
            <a:ext cx="1066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Evaluation uses synthetic cases; results are prototype evidence, not population impact.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EVALUATION SCENARIOS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A68FE-D874-1C5E-3C9F-1F275B188428}"/>
              </a:ext>
            </a:extLst>
          </p:cNvPr>
          <p:cNvSpPr txBox="1"/>
          <p:nvPr/>
        </p:nvSpPr>
        <p:spPr>
          <a:xfrm>
            <a:off x="571500" y="1422399"/>
            <a:ext cx="9144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Four scenarios test different failure modes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AFD19-0FCE-C093-CA90-CA2C90FBE217}"/>
              </a:ext>
            </a:extLst>
          </p:cNvPr>
          <p:cNvSpPr txBox="1"/>
          <p:nvPr/>
        </p:nvSpPr>
        <p:spPr>
          <a:xfrm>
            <a:off x="571500" y="2133599"/>
            <a:ext cx="279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SCENARIOS 1–2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8889E0-3498-9E80-6AAC-C44A5CEEF394}"/>
              </a:ext>
            </a:extLst>
          </p:cNvPr>
          <p:cNvSpPr txBox="1"/>
          <p:nvPr/>
        </p:nvSpPr>
        <p:spPr>
          <a:xfrm>
            <a:off x="571500" y="2489199"/>
            <a:ext cx="4953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1. READY</a:t>
            </a:r>
          </a:p>
          <a:p>
            <a:r>
              <a:t>Same standard; prerequisites mastered.</a:t>
            </a:r>
          </a:p>
          <a:p>
            <a:r>
              <a:t>Expected: no academic gap.</a:t>
            </a:r>
          </a:p>
          <a:p/>
          <a:p>
            <a:r>
              <a:t>2. MASTERY GAP</a:t>
            </a:r>
          </a:p>
          <a:p>
            <a:r>
              <a:t>Interrupted learning; algebra weak, integers strong.</a:t>
            </a:r>
          </a:p>
          <a:p>
            <a:r>
              <a:t>Expected: focused algebra bridge.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4F975-5E51-5787-BC7C-898C434C9985}"/>
              </a:ext>
            </a:extLst>
          </p:cNvPr>
          <p:cNvSpPr txBox="1"/>
          <p:nvPr/>
        </p:nvSpPr>
        <p:spPr>
          <a:xfrm>
            <a:off x="6350000" y="2133599"/>
            <a:ext cx="406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SCENARIOS 3–4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738E0D-5C4B-7F23-1FBF-85CDB76915E8}"/>
              </a:ext>
            </a:extLst>
          </p:cNvPr>
          <p:cNvSpPr txBox="1"/>
          <p:nvPr/>
        </p:nvSpPr>
        <p:spPr>
          <a:xfrm>
            <a:off x="6350000" y="2489200"/>
            <a:ext cx="4953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3. LANGUAGE BARRIER</a:t>
            </a:r>
          </a:p>
          <a:p>
            <a:r>
              <a:t>Concept works symbolically; English terminology fails.</a:t>
            </a:r>
          </a:p>
          <a:p>
            <a:r>
              <a:t>Expected: terminology support, not full reteaching.</a:t>
            </a:r>
          </a:p>
          <a:p/>
          <a:p>
            <a:r>
              <a:t>4. CROSS-BOARD GAP</a:t>
            </a:r>
          </a:p>
          <a:p>
            <a:r>
              <a:t>Target fails; an earlier prerequisite is weak.</a:t>
            </a:r>
          </a:p>
          <a:p>
            <a:r>
              <a:t>Expected: shortest prerequisite path.</a:t>
            </a:r>
          </a:p>
          <a:p/>
          <a:p>
            <a:r>
              <a:t>DECISION RULE</a:t>
            </a:r>
          </a:p>
          <a:p>
            <a:r>
              <a:t>Accept a gap only when evidence supports it; route uncertainty to teacher review.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69ABFB-F3F2-5768-EE45-7B0B8EA9E78B}"/>
              </a:ext>
            </a:extLst>
          </p:cNvPr>
          <p:cNvSpPr txBox="1"/>
          <p:nvPr/>
        </p:nvSpPr>
        <p:spPr>
          <a:xfrm>
            <a:off x="571500" y="5638800"/>
            <a:ext cx="10731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en-US" sz="1150" b="1" dirty="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7645</TotalTime>
  <Words>797</Words>
  <Application>Microsoft Office PowerPoint</Application>
  <PresentationFormat>Widescreen</PresentationFormat>
  <Paragraphs>123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GAPMAP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Keyur Sherke</cp:lastModifiedBy>
  <cp:revision>153</cp:revision>
  <dcterms:created xsi:type="dcterms:W3CDTF">2013-12-12T18:46:50Z</dcterms:created>
  <dcterms:modified xsi:type="dcterms:W3CDTF">2026-09-10T13:26:50Z</dcterms:modified>
  <cp:category/>
</cp:coreProperties>
</file>