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Sources: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UDISE+ 2024-25 dropout data: 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UNICEF child migration research: https://www.unicef.org/india/reports/understanding-child-migration-india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Official references: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https://www.unicef.org/india/reports/understanding-child-migration-india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https://apaar.education.gov.in/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https://scholarships.gov.in/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r>
              <a:rPr lang="en-US" sz="3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GAPMAP</a:t>
            </a:r>
            <a:endParaRPr lang="en-IN" sz="3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 ID - SIH26207</a:t>
            </a:r>
          </a:p>
          <a:p>
            <a:r>
              <a:rPr lang="en-US" dirty="0"/>
              <a:t>Problem Statement Title - Student Innovation: Smart Education</a:t>
            </a:r>
          </a:p>
          <a:p>
            <a:r>
              <a:rPr lang="en-US" dirty="0"/>
              <a:t>Theme - Smart Education</a:t>
            </a:r>
          </a:p>
          <a:p>
            <a:r>
              <a:rPr lang="en-US" dirty="0"/>
              <a:t>PS Category - Software</a:t>
            </a:r>
          </a:p>
          <a:p>
            <a:r>
              <a:rPr lang="en-US" dirty="0"/>
              <a:t>Team ID - [TO ADD]</a:t>
            </a:r>
          </a:p>
          <a:p>
            <a:r>
              <a:rPr lang="en-US" dirty="0"/>
              <a:t>Team Name - Bravo 404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0E849-04A2-E469-9635-61C2179FF7F1}"/>
              </a:ext>
            </a:extLst>
          </p:cNvPr>
          <p:cNvSpPr txBox="1"/>
          <p:nvPr/>
        </p:nvSpPr>
        <p:spPr>
          <a:xfrm>
            <a:off x="3175000" y="5460999"/>
            <a:ext cx="5842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E1E1E"/>
                </a:solidFill>
                <a:latin typeface="Arial" panose="020B0604020202020204" pitchFamily="34" charset="0"/>
              </a:rPr>
              <a:t>Curriculum Transition and Learning Recovery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/>
            <a:r>
              <a:rPr lang="en-US" sz="2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GAPMAP</a:t>
            </a:r>
            <a:endParaRPr lang="en-US" sz="2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CBB48A-78CF-F310-7CD2-34245F6B2DEA}"/>
              </a:ext>
            </a:extLst>
          </p:cNvPr>
          <p:cNvSpPr txBox="1"/>
          <p:nvPr/>
        </p:nvSpPr>
        <p:spPr>
          <a:xfrm>
            <a:off x="571500" y="1295399"/>
            <a:ext cx="635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555555"/>
                </a:solidFill>
                <a:latin typeface="Arial" panose="020B0604020202020204" pitchFamily="34" charset="0"/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FFBF7-DBEB-0527-D282-A28880F226B9}"/>
              </a:ext>
            </a:extLst>
          </p:cNvPr>
          <p:cNvSpPr txBox="1"/>
          <p:nvPr/>
        </p:nvSpPr>
        <p:spPr>
          <a:xfrm>
            <a:off x="571500" y="1777999"/>
            <a:ext cx="6477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E1E1E"/>
                </a:solidFill>
                <a:latin typeface="Arial" panose="020B0604020202020204" pitchFamily="34" charset="0"/>
              </a:rPr>
              <a:t>Curriculum transitions create invisible prerequisite gaps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071FD-262D-A7D3-2058-817880AD8215}"/>
              </a:ext>
            </a:extLst>
          </p:cNvPr>
          <p:cNvSpPr txBox="1"/>
          <p:nvPr/>
        </p:nvSpPr>
        <p:spPr>
          <a:xfrm>
            <a:off x="571500" y="2451100"/>
            <a:ext cx="6477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Students who change board, medium or institution, or return after an absence, may be enrolled but unable to follow the current lesson. A low score shows the difficulty, but rarely identifies the earliest missing concept or separates a language gap from a concept gap.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9CC705-4A7D-B07D-EB5D-78B1BE2D6D08}"/>
              </a:ext>
            </a:extLst>
          </p:cNvPr>
          <p:cNvSpPr/>
          <p:nvPr/>
        </p:nvSpPr>
        <p:spPr>
          <a:xfrm>
            <a:off x="571500" y="3632200"/>
            <a:ext cx="2006600" cy="9652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4 transition risks</a:t>
            </a:r>
          </a:p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Board, medium, institution and interrupted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C5443-5350-FD7D-0EB5-0F6F23920C2B}"/>
              </a:ext>
            </a:extLst>
          </p:cNvPr>
          <p:cNvSpPr txBox="1"/>
          <p:nvPr/>
        </p:nvSpPr>
        <p:spPr>
          <a:xfrm>
            <a:off x="2794000" y="3594100"/>
            <a:ext cx="42545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GapMap compares the source and destination curricula, runs a short adaptive diagnostic and traces errors through a prerequisite graph. It creates the minimum bridge path a student needs, then reassesses readiness for the current classroom.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72EF4-4FC7-0E1D-F616-E0B5B8643BA6}"/>
              </a:ext>
            </a:extLst>
          </p:cNvPr>
          <p:cNvSpPr txBox="1"/>
          <p:nvPr/>
        </p:nvSpPr>
        <p:spPr>
          <a:xfrm>
            <a:off x="571500" y="49529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WHY IT IS DIFFERENT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0C316-06CE-D468-6663-FB286F541EDE}"/>
              </a:ext>
            </a:extLst>
          </p:cNvPr>
          <p:cNvSpPr txBox="1"/>
          <p:nvPr/>
        </p:nvSpPr>
        <p:spPr>
          <a:xfrm>
            <a:off x="571500" y="5283200"/>
            <a:ext cx="6477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Cross-curriculum mapping + root-gap diagnosis + minimum bridge path + readiness evidence</a:t>
            </a:r>
          </a:p>
        </p:txBody>
      </p:sp>
      <p:pic>
        <p:nvPicPr>
          <p:cNvPr id="16" name="GapMap Workflow" descr="GapMap workflow: compare curricula, diagnose, locate prerequisite gaps, build a minimum bridge path and reassess readiness.">
            <a:extLst>
              <a:ext uri="{FF2B5EF4-FFF2-40B4-BE49-F238E27FC236}">
                <a16:creationId xmlns:a16="http://schemas.microsoft.com/office/drawing/2014/main" id="{87D85B2E-1C5C-AF4A-6225-19B7E23008A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639050" y="1828800"/>
            <a:ext cx="370840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41D8DE-379E-DB66-E65B-4EF6A41858D7}"/>
              </a:ext>
            </a:extLst>
          </p:cNvPr>
          <p:cNvSpPr txBox="1"/>
          <p:nvPr/>
        </p:nvSpPr>
        <p:spPr>
          <a:xfrm>
            <a:off x="571500" y="14223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LEARNING RECOVERY PIPELINE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345F45-D252-A84D-0853-60F876266443}"/>
              </a:ext>
            </a:extLst>
          </p:cNvPr>
          <p:cNvSpPr/>
          <p:nvPr/>
        </p:nvSpPr>
        <p:spPr>
          <a:xfrm>
            <a:off x="5715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Map curricula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FC23F-01A9-E367-496E-0A8DF2949814}"/>
              </a:ext>
            </a:extLst>
          </p:cNvPr>
          <p:cNvSpPr txBox="1"/>
          <p:nvPr/>
        </p:nvSpPr>
        <p:spPr>
          <a:xfrm>
            <a:off x="24892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ED5CC6-56AB-54D5-08E0-F7E8854C2FF2}"/>
              </a:ext>
            </a:extLst>
          </p:cNvPr>
          <p:cNvSpPr/>
          <p:nvPr/>
        </p:nvSpPr>
        <p:spPr>
          <a:xfrm>
            <a:off x="27813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Diagnose learner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67AA1-BE09-D4B7-C01A-01412B090F99}"/>
              </a:ext>
            </a:extLst>
          </p:cNvPr>
          <p:cNvSpPr txBox="1"/>
          <p:nvPr/>
        </p:nvSpPr>
        <p:spPr>
          <a:xfrm>
            <a:off x="46990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9D385-DF5D-3BB7-C60A-73C9C1043D7B}"/>
              </a:ext>
            </a:extLst>
          </p:cNvPr>
          <p:cNvSpPr/>
          <p:nvPr/>
        </p:nvSpPr>
        <p:spPr>
          <a:xfrm>
            <a:off x="49911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  <a:latin typeface="Arial" panose="020B0604020202020204" pitchFamily="34" charset="0"/>
              </a:rPr>
              <a:t>Trace prerequisites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3016A-67BC-48AE-F73D-7301BD3FF61A}"/>
              </a:ext>
            </a:extLst>
          </p:cNvPr>
          <p:cNvSpPr txBox="1"/>
          <p:nvPr/>
        </p:nvSpPr>
        <p:spPr>
          <a:xfrm>
            <a:off x="69088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953F6-7BA7-5CB0-4EE4-88FF9CEA5262}"/>
              </a:ext>
            </a:extLst>
          </p:cNvPr>
          <p:cNvSpPr/>
          <p:nvPr/>
        </p:nvSpPr>
        <p:spPr>
          <a:xfrm>
            <a:off x="72009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Build bridge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ED5C7-CAC3-A9D2-A4CE-B52D01552E3A}"/>
              </a:ext>
            </a:extLst>
          </p:cNvPr>
          <p:cNvSpPr txBox="1"/>
          <p:nvPr/>
        </p:nvSpPr>
        <p:spPr>
          <a:xfrm>
            <a:off x="91186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44DF45-7B0C-CFA1-7BFF-08F896469A65}"/>
              </a:ext>
            </a:extLst>
          </p:cNvPr>
          <p:cNvSpPr/>
          <p:nvPr/>
        </p:nvSpPr>
        <p:spPr>
          <a:xfrm>
            <a:off x="94107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Reassess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5279-C76F-6A4A-8371-AC8E7D3199A9}"/>
              </a:ext>
            </a:extLst>
          </p:cNvPr>
          <p:cNvSpPr txBox="1"/>
          <p:nvPr/>
        </p:nvSpPr>
        <p:spPr>
          <a:xfrm>
            <a:off x="571500" y="2908299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PLATFORM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3825E-6E07-E98E-F92D-299231D99CA1}"/>
              </a:ext>
            </a:extLst>
          </p:cNvPr>
          <p:cNvSpPr txBox="1"/>
          <p:nvPr/>
        </p:nvSpPr>
        <p:spPr>
          <a:xfrm>
            <a:off x="571500" y="3263900"/>
            <a:ext cx="51435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Source and destination board, grade and medium profiles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Learning outcome and concept dependency graph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Adaptive diagnostic built from a verified question bank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Student bridge plan with teacher review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Progress evidence and classroom readiness history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59558-A364-F825-CD2C-28B1C017E021}"/>
              </a:ext>
            </a:extLst>
          </p:cNvPr>
          <p:cNvSpPr txBox="1"/>
          <p:nvPr/>
        </p:nvSpPr>
        <p:spPr>
          <a:xfrm>
            <a:off x="6413500" y="29082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AI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133E-D268-06A1-8A8C-EA432921EF69}"/>
              </a:ext>
            </a:extLst>
          </p:cNvPr>
          <p:cNvSpPr txBox="1"/>
          <p:nvPr/>
        </p:nvSpPr>
        <p:spPr>
          <a:xfrm>
            <a:off x="6413500" y="3263900"/>
            <a:ext cx="51435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Maps equivalent concepts across curricula and languages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Produces diagnostic variants from verified learning outcomes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Separates terminology difficulty from concept misunderstanding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Grounds explanations in approved textbooks for teacher review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16500-2A73-65FB-9775-F2547BFF8299}"/>
              </a:ext>
            </a:extLst>
          </p:cNvPr>
          <p:cNvSpPr txBox="1"/>
          <p:nvPr/>
        </p:nvSpPr>
        <p:spPr>
          <a:xfrm>
            <a:off x="571500" y="4606131"/>
            <a:ext cx="10985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555555"/>
                </a:solidFill>
                <a:latin typeface="Arial" panose="020B0604020202020204" pitchFamily="34" charset="0"/>
              </a:rPr>
              <a:t>Prototype stack: React, Django REST, PostgreSQL with pgvector, concept graph, grounded language model and role-based access</a:t>
            </a:r>
            <a:endParaRPr lang="en-US" sz="10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D676D-92CC-F38C-0C9B-51CBBC6AAF74}"/>
              </a:ext>
            </a:extLst>
          </p:cNvPr>
          <p:cNvSpPr txBox="1"/>
          <p:nvPr/>
        </p:nvSpPr>
        <p:spPr>
          <a:xfrm>
            <a:off x="571500" y="1422399"/>
            <a:ext cx="10414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A mathematics pilot can prove the diagnosis before expansion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198B9-5569-DBF2-6B03-09E9220ED87A}"/>
              </a:ext>
            </a:extLst>
          </p:cNvPr>
          <p:cNvSpPr txBox="1"/>
          <p:nvPr/>
        </p:nvSpPr>
        <p:spPr>
          <a:xfrm>
            <a:off x="571500" y="2146299"/>
            <a:ext cx="2667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PILOT BOUNDARY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43DCA-2F34-73DD-A6C1-3A805989436C}"/>
              </a:ext>
            </a:extLst>
          </p:cNvPr>
          <p:cNvSpPr txBox="1"/>
          <p:nvPr/>
        </p:nvSpPr>
        <p:spPr>
          <a:xfrm>
            <a:off x="571500" y="2514599"/>
            <a:ext cx="48260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One transition: state board to CBSE or a medium change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One scope: Class 8 to 9 mathematics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About 25 prerequisite concepts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English and Hindi diagnostic prompts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Synthetic learner profiles with teacher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D7E35-FF1D-56EA-22ED-D871E4DBA6AE}"/>
              </a:ext>
            </a:extLst>
          </p:cNvPr>
          <p:cNvSpPr txBox="1"/>
          <p:nvPr/>
        </p:nvSpPr>
        <p:spPr>
          <a:xfrm>
            <a:off x="6032500" y="21462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RISKS AND CONTROLS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FD71A-183C-1A1D-D852-E3D68E30D702}"/>
              </a:ext>
            </a:extLst>
          </p:cNvPr>
          <p:cNvSpPr txBox="1"/>
          <p:nvPr/>
        </p:nvSpPr>
        <p:spPr>
          <a:xfrm>
            <a:off x="6032500" y="2514600"/>
            <a:ext cx="51435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Curriculum mapping error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Teacher validates every concept link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Question-generation error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Verified question bank with source references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Language gap mistaken for concept gap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Bilingual prompts and separate scoring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Weak bridge recommendation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Teacher approves the final path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03D91-41EB-12BB-2339-981177B4C6AC}"/>
              </a:ext>
            </a:extLst>
          </p:cNvPr>
          <p:cNvSpPr txBox="1"/>
          <p:nvPr/>
        </p:nvSpPr>
        <p:spPr>
          <a:xfrm>
            <a:off x="571500" y="5067299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Viability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61A38-34AB-6CBD-D91E-C9FF1BDBC79C}"/>
              </a:ext>
            </a:extLst>
          </p:cNvPr>
          <p:cNvSpPr txBox="1"/>
          <p:nvPr/>
        </p:nvSpPr>
        <p:spPr>
          <a:xfrm>
            <a:off x="571500" y="5410200"/>
            <a:ext cx="10604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Uses official learning outcomes and open curriculum resources. DIKSHA can supply learning material while GapMap provides transition diagnosis, sequencing and reassessment.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DC373D-1882-AFA3-8383-1E12C94AC754}"/>
              </a:ext>
            </a:extLst>
          </p:cNvPr>
          <p:cNvSpPr txBox="1"/>
          <p:nvPr/>
        </p:nvSpPr>
        <p:spPr>
          <a:xfrm>
            <a:off x="571500" y="1422399"/>
            <a:ext cx="10604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50" b="1">
                <a:solidFill>
                  <a:srgbClr val="1E1E1E"/>
                </a:solidFill>
                <a:latin typeface="Arial" panose="020B0604020202020204" pitchFamily="34" charset="0"/>
              </a:rPr>
              <a:t>Students catch up on the right concepts instead of repeating an entire syllabus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1EBB-2A4F-A732-B89D-464920D64CA1}"/>
              </a:ext>
            </a:extLst>
          </p:cNvPr>
          <p:cNvSpPr txBox="1"/>
          <p:nvPr/>
        </p:nvSpPr>
        <p:spPr>
          <a:xfrm>
            <a:off x="571500" y="2197099"/>
            <a:ext cx="292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STUDENT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42CF-932E-ECD0-38EB-B146EF2DAA86}"/>
              </a:ext>
            </a:extLst>
          </p:cNvPr>
          <p:cNvSpPr txBox="1"/>
          <p:nvPr/>
        </p:nvSpPr>
        <p:spPr>
          <a:xfrm>
            <a:off x="571500" y="2578100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Shorter route from the missing prerequisite to the current lesson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Support in a familiar language without hiding academic terminology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Visible mastery and classroom readiness instead of one low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15FF5-6423-148F-DB39-3446F01B89B2}"/>
              </a:ext>
            </a:extLst>
          </p:cNvPr>
          <p:cNvSpPr txBox="1"/>
          <p:nvPr/>
        </p:nvSpPr>
        <p:spPr>
          <a:xfrm>
            <a:off x="6350000" y="21970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INSTITUTION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1A47-CC63-E322-08A8-5EF1A4B92442}"/>
              </a:ext>
            </a:extLst>
          </p:cNvPr>
          <p:cNvSpPr txBox="1"/>
          <p:nvPr/>
        </p:nvSpPr>
        <p:spPr>
          <a:xfrm>
            <a:off x="6350000" y="2578099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Root-gap map instead of marks alone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Reviewed bridge path for transitioning learner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Cohort view for students who share the same missing prerequisite</a:t>
            </a:r>
            <a:endParaRPr lang="en-US" sz="1150" dirty="0">
              <a:solidFill>
                <a:srgbClr val="363636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1C00E-4925-83FC-6F39-FB13A652A5BE}"/>
              </a:ext>
            </a:extLst>
          </p:cNvPr>
          <p:cNvSpPr txBox="1"/>
          <p:nvPr/>
        </p:nvSpPr>
        <p:spPr>
          <a:xfrm>
            <a:off x="571500" y="4470399"/>
            <a:ext cx="444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MEASURABLE PILOT INDICATORS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13F92-A935-50FC-A9D2-881FD72D7A5D}"/>
              </a:ext>
            </a:extLst>
          </p:cNvPr>
          <p:cNvSpPr txBox="1"/>
          <p:nvPr/>
        </p:nvSpPr>
        <p:spPr>
          <a:xfrm>
            <a:off x="571500" y="4889500"/>
            <a:ext cx="10668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55555"/>
                </a:solidFill>
                <a:latin typeface="Arial" panose="020B0604020202020204" pitchFamily="34" charset="0"/>
              </a:rPr>
              <a:t>Teacher-validated diagnosis     Bridge completion     Mastery improvement     Time to classroom readiness     Recurring gaps</a:t>
            </a:r>
            <a:endParaRPr lang="en-US" sz="110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DA406-6770-DEC6-A9CF-A45099B78FCD}"/>
              </a:ext>
            </a:extLst>
          </p:cNvPr>
          <p:cNvSpPr txBox="1"/>
          <p:nvPr/>
        </p:nvSpPr>
        <p:spPr>
          <a:xfrm>
            <a:off x="539750" y="5545138"/>
            <a:ext cx="1066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777777"/>
                </a:solidFill>
                <a:latin typeface="Arial" panose="020B0604020202020204" pitchFamily="34" charset="0"/>
              </a:rPr>
              <a:t>Primary beneficiaries: students changing board, medium or institution, and learners returning after interrupted education</a:t>
            </a:r>
            <a:endParaRPr lang="en-US" sz="1050" dirty="0">
              <a:solidFill>
                <a:srgbClr val="77777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A68FE-D874-1C5E-3C9F-1F275B188428}"/>
              </a:ext>
            </a:extLst>
          </p:cNvPr>
          <p:cNvSpPr txBox="1"/>
          <p:nvPr/>
        </p:nvSpPr>
        <p:spPr>
          <a:xfrm>
            <a:off x="571500" y="1422399"/>
            <a:ext cx="914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Evidence base and systems considered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AFD19-0FCE-C093-CA90-CA2C90FBE217}"/>
              </a:ext>
            </a:extLst>
          </p:cNvPr>
          <p:cNvSpPr txBox="1"/>
          <p:nvPr/>
        </p:nvSpPr>
        <p:spPr>
          <a:xfrm>
            <a:off x="571500" y="21335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CURRENT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889E0-3498-9E80-6AAC-C44A5CEEF394}"/>
              </a:ext>
            </a:extLst>
          </p:cNvPr>
          <p:cNvSpPr txBox="1"/>
          <p:nvPr/>
        </p:nvSpPr>
        <p:spPr>
          <a:xfrm>
            <a:off x="571500" y="24891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1. Ministry of Education, ABSS 2025 Outcome Document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Students changing from home-language learning to English-medium higher education require transition support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education.gov.in/sites/upload_files/mhrd/files/nep/ABSS_2025_Outcome_Document.pdf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2. NCERT Learning Outcomes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Grade and subject learning outcomes provide the basis for a curriculum concept graph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ncert.nic.in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4F975-5E51-5787-BC7C-898C434C9985}"/>
              </a:ext>
            </a:extLst>
          </p:cNvPr>
          <p:cNvSpPr txBox="1"/>
          <p:nvPr/>
        </p:nvSpPr>
        <p:spPr>
          <a:xfrm>
            <a:off x="6350000" y="2133599"/>
            <a:ext cx="406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EXISTING SYSTEMS AND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38E0D-5C4B-7F23-1FBF-85CDB76915E8}"/>
              </a:ext>
            </a:extLst>
          </p:cNvPr>
          <p:cNvSpPr txBox="1"/>
          <p:nvPr/>
        </p:nvSpPr>
        <p:spPr>
          <a:xfrm>
            <a:off x="6350000" y="2489200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3. APAAR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Academic identity, records, credits and mobility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apaar.education.gov.in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4. DIKSHA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Curriculum content, quizzes and multilingual learning resources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diksha.gov.in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5. PRABANDH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Tracks out-of-school learners until mainstreaming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samagrashiksha.in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GapMap focus: cross-curriculum prerequisite diagnosis and a minimum recovery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9ABFB-F3F2-5768-EE45-7B0B8EA9E78B}"/>
              </a:ext>
            </a:extLst>
          </p:cNvPr>
          <p:cNvSpPr txBox="1"/>
          <p:nvPr/>
        </p:nvSpPr>
        <p:spPr>
          <a:xfrm>
            <a:off x="571500" y="5638800"/>
            <a:ext cx="10731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sz="11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797</Words>
  <Application>Microsoft Office PowerPoint</Application>
  <PresentationFormat>Widescreen</PresentationFormat>
  <Paragraphs>123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GAPMAP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Keyur Sherke</cp:lastModifiedBy>
  <cp:revision>153</cp:revision>
  <dcterms:created xsi:type="dcterms:W3CDTF">2013-12-12T18:46:50Z</dcterms:created>
  <dcterms:modified xsi:type="dcterms:W3CDTF">2026-09-10T13:26:50Z</dcterms:modified>
  <cp:category/>
</cp:coreProperties>
</file>